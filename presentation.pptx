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Etna Sans Serif" charset="1" panose="02000600000000000000"/>
      <p:regular r:id="rId18"/>
    </p:embeddedFont>
    <p:embeddedFont>
      <p:font typeface="Open Sauce Semi-Bold" charset="1" panose="00000700000000000000"/>
      <p:regular r:id="rId19"/>
    </p:embeddedFont>
    <p:embeddedFont>
      <p:font typeface="Open Sauce" charset="1" panose="00000500000000000000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i.org/10.1613/jair.953" TargetMode="External" Type="http://schemas.openxmlformats.org/officeDocument/2006/relationships/hyperlink"/><Relationship Id="rId3" Target="https://doi.org/10.1007/s40534-016-0095-5" TargetMode="External" Type="http://schemas.openxmlformats.org/officeDocument/2006/relationships/hyperlink"/><Relationship Id="rId4" Target="https://doi.org/10.1371/journal.pone.0214966" TargetMode="External" Type="http://schemas.openxmlformats.org/officeDocument/2006/relationships/hyperlink"/><Relationship Id="rId5" Target="https://doi.org/10.1007/978-1-4614-6849-3" TargetMode="External" Type="http://schemas.openxmlformats.org/officeDocument/2006/relationships/hyperlink"/><Relationship Id="rId6" Target="https://doi.org/10.1007/978-1-0716-1418-1" TargetMode="External" Type="http://schemas.openxmlformats.org/officeDocument/2006/relationships/hyperlink"/><Relationship Id="rId7" Target="https://www.who.int/publications/i/item/9789241565684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11498283"/>
            <a:chOff x="0" y="0"/>
            <a:chExt cx="4592731" cy="30283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3028354"/>
            </a:xfrm>
            <a:custGeom>
              <a:avLst/>
              <a:gdLst/>
              <a:ahLst/>
              <a:cxnLst/>
              <a:rect r="r" b="b" t="t" l="l"/>
              <a:pathLst>
                <a:path h="3028354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3015035"/>
                  </a:lnTo>
                  <a:cubicBezTo>
                    <a:pt x="4592731" y="3022391"/>
                    <a:pt x="4586768" y="3028354"/>
                    <a:pt x="4579412" y="3028354"/>
                  </a:cubicBezTo>
                  <a:lnTo>
                    <a:pt x="13319" y="3028354"/>
                  </a:lnTo>
                  <a:cubicBezTo>
                    <a:pt x="5963" y="3028354"/>
                    <a:pt x="0" y="3022391"/>
                    <a:pt x="0" y="3015035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3066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16308" y="760944"/>
            <a:ext cx="4615934" cy="3267459"/>
          </a:xfrm>
          <a:custGeom>
            <a:avLst/>
            <a:gdLst/>
            <a:ahLst/>
            <a:cxnLst/>
            <a:rect r="r" b="b" t="t" l="l"/>
            <a:pathLst>
              <a:path h="3267459" w="4615934">
                <a:moveTo>
                  <a:pt x="0" y="0"/>
                </a:moveTo>
                <a:lnTo>
                  <a:pt x="4615933" y="0"/>
                </a:lnTo>
                <a:lnTo>
                  <a:pt x="4615933" y="3267458"/>
                </a:lnTo>
                <a:lnTo>
                  <a:pt x="0" y="3267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9249" y="3885527"/>
            <a:ext cx="16070051" cy="3612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  <a:spcBef>
                <a:spcPct val="0"/>
              </a:spcBef>
            </a:pPr>
            <a:r>
              <a:rPr lang="en-US" sz="7499" spc="-172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</a:t>
            </a:r>
            <a:r>
              <a:rPr lang="en-US" sz="7499" spc="-172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redicting Traffic Accident Severity in Bahrain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spc="-114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 Statistical Learning Approach</a:t>
            </a:r>
          </a:p>
          <a:p>
            <a:pPr algn="ctr">
              <a:lnSpc>
                <a:spcPts val="10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031074" y="7867650"/>
            <a:ext cx="8225852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b="true" sz="3399" spc="-33">
                <a:solidFill>
                  <a:srgbClr val="02236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BDSA 602 - Statistical Data Analysis</a:t>
            </a:r>
          </a:p>
          <a:p>
            <a:pPr algn="ctr">
              <a:lnSpc>
                <a:spcPts val="4079"/>
              </a:lnSpc>
            </a:pPr>
            <a:r>
              <a:rPr lang="en-US" sz="3399" spc="-33">
                <a:solidFill>
                  <a:srgbClr val="022369"/>
                </a:solidFill>
                <a:latin typeface="Open Sauce"/>
                <a:ea typeface="Open Sauce"/>
                <a:cs typeface="Open Sauce"/>
                <a:sym typeface="Open Sauce"/>
              </a:rPr>
              <a:t>M.Sc. in Big Data Science and Analytics</a:t>
            </a:r>
          </a:p>
          <a:p>
            <a:pPr algn="ctr">
              <a:lnSpc>
                <a:spcPts val="4079"/>
              </a:lnSpc>
            </a:pPr>
            <a:r>
              <a:rPr lang="en-US" sz="3399" spc="-33">
                <a:solidFill>
                  <a:srgbClr val="022369"/>
                </a:solidFill>
                <a:latin typeface="Open Sauce"/>
                <a:ea typeface="Open Sauce"/>
                <a:cs typeface="Open Sauce"/>
                <a:sym typeface="Open Sauce"/>
              </a:rPr>
              <a:t>University of Bahrain</a:t>
            </a:r>
          </a:p>
          <a:p>
            <a:pPr algn="ctr">
              <a:lnSpc>
                <a:spcPts val="4079"/>
              </a:lnSpc>
            </a:pPr>
            <a:r>
              <a:rPr lang="en-US" sz="3399" spc="-33">
                <a:solidFill>
                  <a:srgbClr val="022369"/>
                </a:solidFill>
                <a:latin typeface="Open Sauce"/>
                <a:ea typeface="Open Sauce"/>
                <a:cs typeface="Open Sauce"/>
                <a:sym typeface="Open Sauce"/>
              </a:rPr>
              <a:t>December 2025</a:t>
            </a:r>
          </a:p>
          <a:p>
            <a:pPr algn="ctr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4987" y="3000010"/>
            <a:ext cx="17438027" cy="4991709"/>
          </a:xfrm>
          <a:custGeom>
            <a:avLst/>
            <a:gdLst/>
            <a:ahLst/>
            <a:cxnLst/>
            <a:rect r="r" b="b" t="t" l="l"/>
            <a:pathLst>
              <a:path h="4991709" w="17438027">
                <a:moveTo>
                  <a:pt x="0" y="0"/>
                </a:moveTo>
                <a:lnTo>
                  <a:pt x="17438026" y="0"/>
                </a:lnTo>
                <a:lnTo>
                  <a:pt x="17438026" y="4991709"/>
                </a:lnTo>
                <a:lnTo>
                  <a:pt x="0" y="4991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9" t="0" r="-88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68891" y="1352550"/>
            <a:ext cx="11950218" cy="119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9999" spc="-229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4987" y="2840150"/>
            <a:ext cx="17438027" cy="5444087"/>
          </a:xfrm>
          <a:custGeom>
            <a:avLst/>
            <a:gdLst/>
            <a:ahLst/>
            <a:cxnLst/>
            <a:rect r="r" b="b" t="t" l="l"/>
            <a:pathLst>
              <a:path h="5444087" w="17438027">
                <a:moveTo>
                  <a:pt x="0" y="0"/>
                </a:moveTo>
                <a:lnTo>
                  <a:pt x="17438026" y="0"/>
                </a:lnTo>
                <a:lnTo>
                  <a:pt x="17438026" y="5444087"/>
                </a:lnTo>
                <a:lnTo>
                  <a:pt x="0" y="5444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8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50405" y="1082836"/>
            <a:ext cx="15008895" cy="383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9"/>
              </a:lnSpc>
            </a:pPr>
            <a:r>
              <a:rPr lang="en-US" sz="9999" spc="-229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Exploratory Data Analysis</a:t>
            </a:r>
          </a:p>
          <a:p>
            <a:pPr algn="l">
              <a:lnSpc>
                <a:spcPts val="10277"/>
              </a:lnSpc>
            </a:pPr>
          </a:p>
          <a:p>
            <a:pPr algn="l">
              <a:lnSpc>
                <a:spcPts val="1027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4987" y="3317335"/>
            <a:ext cx="17438027" cy="5538677"/>
          </a:xfrm>
          <a:custGeom>
            <a:avLst/>
            <a:gdLst/>
            <a:ahLst/>
            <a:cxnLst/>
            <a:rect r="r" b="b" t="t" l="l"/>
            <a:pathLst>
              <a:path h="5538677" w="17438027">
                <a:moveTo>
                  <a:pt x="0" y="0"/>
                </a:moveTo>
                <a:lnTo>
                  <a:pt x="17438026" y="0"/>
                </a:lnTo>
                <a:lnTo>
                  <a:pt x="17438026" y="5538677"/>
                </a:lnTo>
                <a:lnTo>
                  <a:pt x="0" y="5538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4987" y="1352550"/>
            <a:ext cx="17438027" cy="306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9999" spc="-229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Understanding Class Imbalance</a:t>
            </a:r>
          </a:p>
          <a:p>
            <a:pPr algn="l">
              <a:lnSpc>
                <a:spcPts val="8699"/>
              </a:lnSpc>
            </a:pPr>
          </a:p>
          <a:p>
            <a:pPr algn="ctr">
              <a:lnSpc>
                <a:spcPts val="656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6850" y="2454350"/>
            <a:ext cx="17254299" cy="6506620"/>
          </a:xfrm>
          <a:custGeom>
            <a:avLst/>
            <a:gdLst/>
            <a:ahLst/>
            <a:cxnLst/>
            <a:rect r="r" b="b" t="t" l="l"/>
            <a:pathLst>
              <a:path h="6506620" w="17254299">
                <a:moveTo>
                  <a:pt x="0" y="0"/>
                </a:moveTo>
                <a:lnTo>
                  <a:pt x="17254300" y="0"/>
                </a:lnTo>
                <a:lnTo>
                  <a:pt x="17254300" y="6506620"/>
                </a:lnTo>
                <a:lnTo>
                  <a:pt x="0" y="650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1" r="-27332" b="-107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0796" y="1097023"/>
            <a:ext cx="16626408" cy="404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21"/>
              </a:lnSpc>
            </a:pPr>
            <a:r>
              <a:rPr lang="en-US" sz="10024" spc="-230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Methodology</a:t>
            </a:r>
          </a:p>
          <a:p>
            <a:pPr algn="l">
              <a:lnSpc>
                <a:spcPts val="10983"/>
              </a:lnSpc>
            </a:pPr>
          </a:p>
          <a:p>
            <a:pPr algn="l">
              <a:lnSpc>
                <a:spcPts val="1098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9644" y="2229013"/>
            <a:ext cx="17373369" cy="5450895"/>
          </a:xfrm>
          <a:custGeom>
            <a:avLst/>
            <a:gdLst/>
            <a:ahLst/>
            <a:cxnLst/>
            <a:rect r="r" b="b" t="t" l="l"/>
            <a:pathLst>
              <a:path h="5450895" w="17373369">
                <a:moveTo>
                  <a:pt x="0" y="0"/>
                </a:moveTo>
                <a:lnTo>
                  <a:pt x="17373369" y="0"/>
                </a:lnTo>
                <a:lnTo>
                  <a:pt x="17373369" y="5450895"/>
                </a:lnTo>
                <a:lnTo>
                  <a:pt x="0" y="5450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61455" y="1041996"/>
            <a:ext cx="15165091" cy="182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5"/>
              </a:lnSpc>
            </a:pPr>
            <a:r>
              <a:rPr lang="en-US" sz="9213" spc="-211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Results</a:t>
            </a:r>
          </a:p>
          <a:p>
            <a:pPr algn="ctr">
              <a:lnSpc>
                <a:spcPts val="610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4249" y="2760224"/>
            <a:ext cx="17159501" cy="5469591"/>
          </a:xfrm>
          <a:custGeom>
            <a:avLst/>
            <a:gdLst/>
            <a:ahLst/>
            <a:cxnLst/>
            <a:rect r="r" b="b" t="t" l="l"/>
            <a:pathLst>
              <a:path h="5469591" w="17159501">
                <a:moveTo>
                  <a:pt x="0" y="0"/>
                </a:moveTo>
                <a:lnTo>
                  <a:pt x="17159502" y="0"/>
                </a:lnTo>
                <a:lnTo>
                  <a:pt x="17159502" y="5469592"/>
                </a:lnTo>
                <a:lnTo>
                  <a:pt x="0" y="5469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26822" y="1352550"/>
            <a:ext cx="12234355" cy="414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9999" spc="-229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Confusion Matrix</a:t>
            </a:r>
          </a:p>
          <a:p>
            <a:pPr algn="ctr">
              <a:lnSpc>
                <a:spcPts val="8699"/>
              </a:lnSpc>
            </a:pPr>
          </a:p>
          <a:p>
            <a:pPr algn="ctr">
              <a:lnSpc>
                <a:spcPts val="7476"/>
              </a:lnSpc>
            </a:pPr>
          </a:p>
          <a:p>
            <a:pPr algn="ctr">
              <a:lnSpc>
                <a:spcPts val="747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6196" y="2535794"/>
            <a:ext cx="17236817" cy="6490713"/>
          </a:xfrm>
          <a:custGeom>
            <a:avLst/>
            <a:gdLst/>
            <a:ahLst/>
            <a:cxnLst/>
            <a:rect r="r" b="b" t="t" l="l"/>
            <a:pathLst>
              <a:path h="6490713" w="17236817">
                <a:moveTo>
                  <a:pt x="0" y="0"/>
                </a:moveTo>
                <a:lnTo>
                  <a:pt x="17236817" y="0"/>
                </a:lnTo>
                <a:lnTo>
                  <a:pt x="17236817" y="6490713"/>
                </a:lnTo>
                <a:lnTo>
                  <a:pt x="0" y="6490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6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1652" y="782341"/>
            <a:ext cx="14924697" cy="389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8"/>
              </a:lnSpc>
            </a:pPr>
            <a:r>
              <a:rPr lang="en-US" sz="12354" spc="-284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Why This Happened</a:t>
            </a:r>
          </a:p>
          <a:p>
            <a:pPr algn="ctr">
              <a:lnSpc>
                <a:spcPts val="10748"/>
              </a:lnSpc>
            </a:pPr>
          </a:p>
          <a:p>
            <a:pPr algn="ctr">
              <a:lnSpc>
                <a:spcPts val="86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0369" y="2811372"/>
            <a:ext cx="17127262" cy="5441535"/>
          </a:xfrm>
          <a:custGeom>
            <a:avLst/>
            <a:gdLst/>
            <a:ahLst/>
            <a:cxnLst/>
            <a:rect r="r" b="b" t="t" l="l"/>
            <a:pathLst>
              <a:path h="5441535" w="17127262">
                <a:moveTo>
                  <a:pt x="0" y="0"/>
                </a:moveTo>
                <a:lnTo>
                  <a:pt x="17127262" y="0"/>
                </a:lnTo>
                <a:lnTo>
                  <a:pt x="17127262" y="5441535"/>
                </a:lnTo>
                <a:lnTo>
                  <a:pt x="0" y="5441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48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1652" y="782341"/>
            <a:ext cx="14924697" cy="525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8"/>
              </a:lnSpc>
            </a:pPr>
            <a:r>
              <a:rPr lang="en-US" sz="12354" spc="-284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Addressing Imbalance</a:t>
            </a:r>
          </a:p>
          <a:p>
            <a:pPr algn="ctr">
              <a:lnSpc>
                <a:spcPts val="10748"/>
              </a:lnSpc>
            </a:pPr>
          </a:p>
          <a:p>
            <a:pPr algn="ctr">
              <a:lnSpc>
                <a:spcPts val="10748"/>
              </a:lnSpc>
            </a:pPr>
          </a:p>
          <a:p>
            <a:pPr algn="ctr">
              <a:lnSpc>
                <a:spcPts val="86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8715" y="2387865"/>
            <a:ext cx="16470571" cy="7307966"/>
          </a:xfrm>
          <a:custGeom>
            <a:avLst/>
            <a:gdLst/>
            <a:ahLst/>
            <a:cxnLst/>
            <a:rect r="r" b="b" t="t" l="l"/>
            <a:pathLst>
              <a:path h="7307966" w="16470571">
                <a:moveTo>
                  <a:pt x="0" y="0"/>
                </a:moveTo>
                <a:lnTo>
                  <a:pt x="16470570" y="0"/>
                </a:lnTo>
                <a:lnTo>
                  <a:pt x="16470570" y="7307966"/>
                </a:lnTo>
                <a:lnTo>
                  <a:pt x="0" y="730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76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1652" y="782341"/>
            <a:ext cx="14924697" cy="525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8"/>
              </a:lnSpc>
            </a:pPr>
            <a:r>
              <a:rPr lang="en-US" sz="12354" spc="-284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</a:t>
            </a:r>
          </a:p>
          <a:p>
            <a:pPr algn="ctr">
              <a:lnSpc>
                <a:spcPts val="10748"/>
              </a:lnSpc>
            </a:pPr>
          </a:p>
          <a:p>
            <a:pPr algn="ctr">
              <a:lnSpc>
                <a:spcPts val="10748"/>
              </a:lnSpc>
            </a:pPr>
          </a:p>
          <a:p>
            <a:pPr algn="ctr">
              <a:lnSpc>
                <a:spcPts val="86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71052"/>
            <a:ext cx="16230600" cy="1115371"/>
            <a:chOff x="0" y="0"/>
            <a:chExt cx="4274726" cy="293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93760"/>
            </a:xfrm>
            <a:custGeom>
              <a:avLst/>
              <a:gdLst/>
              <a:ahLst/>
              <a:cxnLst/>
              <a:rect r="r" b="b" t="t" l="l"/>
              <a:pathLst>
                <a:path h="293760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69434"/>
                  </a:lnTo>
                  <a:cubicBezTo>
                    <a:pt x="4274726" y="275885"/>
                    <a:pt x="4272163" y="282073"/>
                    <a:pt x="4267601" y="286635"/>
                  </a:cubicBezTo>
                  <a:cubicBezTo>
                    <a:pt x="4263039" y="291197"/>
                    <a:pt x="4256851" y="293760"/>
                    <a:pt x="4250399" y="293760"/>
                  </a:cubicBezTo>
                  <a:lnTo>
                    <a:pt x="24327" y="293760"/>
                  </a:lnTo>
                  <a:cubicBezTo>
                    <a:pt x="10891" y="293760"/>
                    <a:pt x="0" y="282869"/>
                    <a:pt x="0" y="26943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5EDE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331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Chawla, N. V., Bowyer, K. W., Hall, L. O., &amp; Kegelmeyer, W. P. (2002). SMOTE: Synthetic minority over-sampling technique. Journal of Artificial Intelligence Research, 16, 321-357. </a:t>
              </a:r>
              <a:r>
                <a:rPr lang="en-US" sz="1899" u="sng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  <a:hlinkClick r:id="rId2" tooltip="https://doi.org/10.1613/jair.953"/>
                </a:rPr>
                <a:t>https://doi.org/10.1613/jair.953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05513" y="1352550"/>
            <a:ext cx="8671799" cy="1831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9999" spc="-229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References</a:t>
            </a:r>
          </a:p>
          <a:p>
            <a:pPr algn="ctr">
              <a:lnSpc>
                <a:spcPts val="565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701275"/>
            <a:ext cx="16230600" cy="861090"/>
            <a:chOff x="0" y="0"/>
            <a:chExt cx="4274726" cy="2267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226789"/>
            </a:xfrm>
            <a:custGeom>
              <a:avLst/>
              <a:gdLst/>
              <a:ahLst/>
              <a:cxnLst/>
              <a:rect r="r" b="b" t="t" l="l"/>
              <a:pathLst>
                <a:path h="22678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02462"/>
                  </a:lnTo>
                  <a:cubicBezTo>
                    <a:pt x="4274726" y="215898"/>
                    <a:pt x="4263834" y="226789"/>
                    <a:pt x="4250399" y="226789"/>
                  </a:cubicBezTo>
                  <a:lnTo>
                    <a:pt x="24327" y="226789"/>
                  </a:lnTo>
                  <a:cubicBezTo>
                    <a:pt x="10891" y="226789"/>
                    <a:pt x="0" y="215898"/>
                    <a:pt x="0" y="20246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5EDE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274726" cy="264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5.  Kumar, S., &amp; Toshniwal, D. (2016). A data mining approach to characterize road accident locations. Journal of Modern Transportation, 24(1), 62-72. </a:t>
              </a:r>
              <a:r>
                <a:rPr lang="en-US" sz="1899" u="sng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  <a:hlinkClick r:id="rId3" tooltip="https://doi.org/10.1007/s40534-016-0095-5"/>
                </a:rPr>
                <a:t>https://doi.org/10.1007/s40534-016-0095-5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640160"/>
            <a:ext cx="16230600" cy="861090"/>
            <a:chOff x="0" y="0"/>
            <a:chExt cx="4274726" cy="2267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4726" cy="226789"/>
            </a:xfrm>
            <a:custGeom>
              <a:avLst/>
              <a:gdLst/>
              <a:ahLst/>
              <a:cxnLst/>
              <a:rect r="r" b="b" t="t" l="l"/>
              <a:pathLst>
                <a:path h="22678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02462"/>
                  </a:lnTo>
                  <a:cubicBezTo>
                    <a:pt x="4274726" y="215898"/>
                    <a:pt x="4263834" y="226789"/>
                    <a:pt x="4250399" y="226789"/>
                  </a:cubicBezTo>
                  <a:lnTo>
                    <a:pt x="24327" y="226789"/>
                  </a:lnTo>
                  <a:cubicBezTo>
                    <a:pt x="10891" y="226789"/>
                    <a:pt x="0" y="215898"/>
                    <a:pt x="0" y="20246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5EDE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74726" cy="264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4. Wahab, L., &amp; Jiang, H. (2019). A comparative study on machine learning based algorithms for prediction of motorcycle crash severity. PLoS ONE, 14(4), e0214966. </a:t>
              </a:r>
              <a:r>
                <a:rPr lang="en-US" sz="1899" u="sng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  <a:hlinkClick r:id="rId4" tooltip="https://doi.org/10.1371/journal.pone.0214966"/>
                </a:rPr>
                <a:t>https://doi.org/10.1371/journal.pone.0214966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7762390"/>
            <a:ext cx="16230600" cy="861090"/>
            <a:chOff x="0" y="0"/>
            <a:chExt cx="4274726" cy="2267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74726" cy="226789"/>
            </a:xfrm>
            <a:custGeom>
              <a:avLst/>
              <a:gdLst/>
              <a:ahLst/>
              <a:cxnLst/>
              <a:rect r="r" b="b" t="t" l="l"/>
              <a:pathLst>
                <a:path h="22678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02462"/>
                  </a:lnTo>
                  <a:cubicBezTo>
                    <a:pt x="4274726" y="215898"/>
                    <a:pt x="4263834" y="226789"/>
                    <a:pt x="4250399" y="226789"/>
                  </a:cubicBezTo>
                  <a:lnTo>
                    <a:pt x="24327" y="226789"/>
                  </a:lnTo>
                  <a:cubicBezTo>
                    <a:pt x="10891" y="226789"/>
                    <a:pt x="0" y="215898"/>
                    <a:pt x="0" y="20246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5EDE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74726" cy="264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6. Kuhn, M., &amp; Johnson, K. (2013). Applied predictive modeling. Springer. </a:t>
              </a:r>
              <a:r>
                <a:rPr lang="en-US" sz="1899" u="sng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  <a:hlinkClick r:id="rId5" tooltip="https://doi.org/10.1007/978-1-4614-6849-3"/>
                </a:rPr>
                <a:t>https://doi.org/10.1007/978-1-4614-6849-3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8827755"/>
            <a:ext cx="16230600" cy="1459245"/>
            <a:chOff x="0" y="0"/>
            <a:chExt cx="4274726" cy="384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74726" cy="384328"/>
            </a:xfrm>
            <a:custGeom>
              <a:avLst/>
              <a:gdLst/>
              <a:ahLst/>
              <a:cxnLst/>
              <a:rect r="r" b="b" t="t" l="l"/>
              <a:pathLst>
                <a:path h="384328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360001"/>
                  </a:lnTo>
                  <a:cubicBezTo>
                    <a:pt x="4274726" y="373436"/>
                    <a:pt x="4263834" y="384328"/>
                    <a:pt x="4250399" y="384328"/>
                  </a:cubicBezTo>
                  <a:lnTo>
                    <a:pt x="24327" y="384328"/>
                  </a:lnTo>
                  <a:cubicBezTo>
                    <a:pt x="10891" y="384328"/>
                    <a:pt x="0" y="373436"/>
                    <a:pt x="0" y="360001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5EDE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74726" cy="422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7. James, G., Witten, D., Hastie, T., &amp; Tibshirani, R. (2021). An introduction to statistical learning with applications in R (2nd ed.). Springer. </a:t>
              </a:r>
              <a:r>
                <a:rPr lang="en-US" sz="1899" u="sng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  <a:hlinkClick r:id="rId6" tooltip="https://doi.org/10.1007/978-1-0716-1418-1"/>
                </a:rPr>
                <a:t>https://doi.org/10.1007/978-1-0716-1418-1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3634573"/>
            <a:ext cx="16230600" cy="861090"/>
            <a:chOff x="0" y="0"/>
            <a:chExt cx="4274726" cy="2267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74726" cy="226789"/>
            </a:xfrm>
            <a:custGeom>
              <a:avLst/>
              <a:gdLst/>
              <a:ahLst/>
              <a:cxnLst/>
              <a:rect r="r" b="b" t="t" l="l"/>
              <a:pathLst>
                <a:path h="22678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02462"/>
                  </a:lnTo>
                  <a:cubicBezTo>
                    <a:pt x="4274726" y="215898"/>
                    <a:pt x="4263834" y="226789"/>
                    <a:pt x="4250399" y="226789"/>
                  </a:cubicBezTo>
                  <a:lnTo>
                    <a:pt x="24327" y="226789"/>
                  </a:lnTo>
                  <a:cubicBezTo>
                    <a:pt x="10891" y="226789"/>
                    <a:pt x="0" y="215898"/>
                    <a:pt x="0" y="20246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5EDE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74726" cy="264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2.  World Health Organization. (2018). Global status report on road safety 2018. Geneva: WHO. Retrieved from </a:t>
              </a:r>
              <a:r>
                <a:rPr lang="en-US" sz="1899" u="sng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  <a:hlinkClick r:id="rId7" tooltip="https://www.who.int/publications/i/item/9789241565684"/>
                </a:rPr>
                <a:t>https://www.who.int/publications/i/item/9789241565684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4579044"/>
            <a:ext cx="16230600" cy="861090"/>
            <a:chOff x="0" y="0"/>
            <a:chExt cx="4274726" cy="2267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74726" cy="226789"/>
            </a:xfrm>
            <a:custGeom>
              <a:avLst/>
              <a:gdLst/>
              <a:ahLst/>
              <a:cxnLst/>
              <a:rect r="r" b="b" t="t" l="l"/>
              <a:pathLst>
                <a:path h="22678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02462"/>
                  </a:lnTo>
                  <a:cubicBezTo>
                    <a:pt x="4274726" y="215898"/>
                    <a:pt x="4263834" y="226789"/>
                    <a:pt x="4250399" y="226789"/>
                  </a:cubicBezTo>
                  <a:lnTo>
                    <a:pt x="24327" y="226789"/>
                  </a:lnTo>
                  <a:cubicBezTo>
                    <a:pt x="10891" y="226789"/>
                    <a:pt x="0" y="215898"/>
                    <a:pt x="0" y="20246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5EDE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274726" cy="264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22369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3.   Lunardon, N., Menardi, G., &amp; Torelli, N. (2014). ROSE: A package for binary imbalanced learning. R Journal, 6(1), 79-89.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223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987" y="391816"/>
            <a:ext cx="17438027" cy="9503369"/>
            <a:chOff x="0" y="0"/>
            <a:chExt cx="4592731" cy="25029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2731" cy="2502945"/>
            </a:xfrm>
            <a:custGeom>
              <a:avLst/>
              <a:gdLst/>
              <a:ahLst/>
              <a:cxnLst/>
              <a:rect r="r" b="b" t="t" l="l"/>
              <a:pathLst>
                <a:path h="2502945" w="4592731">
                  <a:moveTo>
                    <a:pt x="13319" y="0"/>
                  </a:moveTo>
                  <a:lnTo>
                    <a:pt x="4579412" y="0"/>
                  </a:lnTo>
                  <a:cubicBezTo>
                    <a:pt x="4586768" y="0"/>
                    <a:pt x="4592731" y="5963"/>
                    <a:pt x="4592731" y="13319"/>
                  </a:cubicBezTo>
                  <a:lnTo>
                    <a:pt x="4592731" y="2489626"/>
                  </a:lnTo>
                  <a:cubicBezTo>
                    <a:pt x="4592731" y="2496982"/>
                    <a:pt x="4586768" y="2502945"/>
                    <a:pt x="4579412" y="2502945"/>
                  </a:cubicBezTo>
                  <a:lnTo>
                    <a:pt x="13319" y="2502945"/>
                  </a:lnTo>
                  <a:cubicBezTo>
                    <a:pt x="5963" y="2502945"/>
                    <a:pt x="0" y="2496982"/>
                    <a:pt x="0" y="2489626"/>
                  </a:cubicBezTo>
                  <a:lnTo>
                    <a:pt x="0" y="13319"/>
                  </a:lnTo>
                  <a:cubicBezTo>
                    <a:pt x="0" y="5963"/>
                    <a:pt x="5963" y="0"/>
                    <a:pt x="133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92731" cy="254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064855"/>
            <a:ext cx="14864197" cy="486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3"/>
              </a:lnSpc>
            </a:pPr>
            <a:r>
              <a:rPr lang="en-US" sz="14559" spc="-334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</a:t>
            </a:r>
          </a:p>
          <a:p>
            <a:pPr algn="l">
              <a:lnSpc>
                <a:spcPts val="9045"/>
              </a:lnSpc>
            </a:pPr>
            <a:r>
              <a:rPr lang="en-US" sz="6461" i="true" spc="-148">
                <a:solidFill>
                  <a:srgbClr val="017E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 I welcome any questions you may have</a:t>
            </a:r>
          </a:p>
          <a:p>
            <a:pPr algn="l">
              <a:lnSpc>
                <a:spcPts val="904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DAG7YRyatRs</dc:identifier>
  <dcterms:modified xsi:type="dcterms:W3CDTF">2011-08-01T06:04:30Z</dcterms:modified>
  <cp:revision>1</cp:revision>
  <dc:title>Blue and Green Modern Smart Cities Presentation</dc:title>
</cp:coreProperties>
</file>